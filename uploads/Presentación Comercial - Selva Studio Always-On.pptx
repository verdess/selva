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Lato"/>
      <p:regular r:id="rId18"/>
      <p:bold r:id="rId19"/>
      <p:italic r:id="rId20"/>
      <p:boldItalic r:id="rId21"/>
    </p:embeddedFont>
    <p:embeddedFont>
      <p:font typeface="Dela Gothic One"/>
      <p:regular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11" Type="http://schemas.openxmlformats.org/officeDocument/2006/relationships/slide" Target="slides/slide6.xml"/><Relationship Id="rId22" Type="http://schemas.openxmlformats.org/officeDocument/2006/relationships/font" Target="fonts/DelaGothicOne-regular.fntdata"/><Relationship Id="rId10" Type="http://schemas.openxmlformats.org/officeDocument/2006/relationships/slide" Target="slides/slide5.xml"/><Relationship Id="rId21" Type="http://schemas.openxmlformats.org/officeDocument/2006/relationships/font" Target="fonts/La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.fntdata"/><Relationship Id="rId6" Type="http://schemas.openxmlformats.org/officeDocument/2006/relationships/slide" Target="slides/slide1.xml"/><Relationship Id="rId18" Type="http://schemas.openxmlformats.org/officeDocument/2006/relationships/font" Target="fonts/La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cf59d0f6d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acf59d0f6d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cf59d0f6d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acf59d0f6d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cf59d0f6d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acf59d0f6d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10" Type="http://schemas.openxmlformats.org/officeDocument/2006/relationships/image" Target="../media/image10.png"/><Relationship Id="rId9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7.png"/><Relationship Id="rId7" Type="http://schemas.openxmlformats.org/officeDocument/2006/relationships/image" Target="../media/image13.png"/><Relationship Id="rId8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7.png"/><Relationship Id="rId5" Type="http://schemas.openxmlformats.org/officeDocument/2006/relationships/image" Target="../media/image24.png"/><Relationship Id="rId6" Type="http://schemas.openxmlformats.org/officeDocument/2006/relationships/image" Target="../media/image28.png"/><Relationship Id="rId7" Type="http://schemas.openxmlformats.org/officeDocument/2006/relationships/image" Target="../media/image2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image" Target="../media/image30.png"/><Relationship Id="rId6" Type="http://schemas.openxmlformats.org/officeDocument/2006/relationships/image" Target="../media/image21.png"/><Relationship Id="rId7" Type="http://schemas.openxmlformats.org/officeDocument/2006/relationships/image" Target="../media/image2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22.png"/><Relationship Id="rId5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image" Target="../media/image30.png"/><Relationship Id="rId6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5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C1C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690812"/>
            <a:ext cx="5286375" cy="2876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05750" y="3386137"/>
            <a:ext cx="3714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05750" y="3767137"/>
            <a:ext cx="3714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" name="Google Shape;8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05750" y="4148137"/>
            <a:ext cx="3714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9" name="Google Shape;89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05750" y="4595812"/>
            <a:ext cx="3714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0" name="Google Shape;90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05750" y="3386137"/>
            <a:ext cx="1077217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" name="Google Shape;91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05750" y="3767137"/>
            <a:ext cx="2637383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905750" y="4148137"/>
            <a:ext cx="215443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905750" y="4595812"/>
            <a:ext cx="156016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3"/>
          <p:cNvSpPr txBox="1"/>
          <p:nvPr/>
        </p:nvSpPr>
        <p:spPr>
          <a:xfrm>
            <a:off x="871850" y="1563475"/>
            <a:ext cx="101109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El consumidor ya cambió: nuevos hábitos, nuevos canales y nuevas expectativas. Y mientras eso pasa, las marcas están reajustando toda su forma de comunicar y producir.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6334125" y="2957512"/>
            <a:ext cx="52863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Reasignación de Inversión en Video (EE. UU.)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571500" y="2764475"/>
            <a:ext cx="5817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Hoy las audiencias viven en mil plataformas a la vez y piden contenido ya, inmediato, natural, conversacional. Ya no esperan a que llegue la ‘gran campaña’.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571500" y="3979038"/>
            <a:ext cx="4857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Por eso la producción dejó de ser algo episódico: ahora es continua. Las marcas necesitan generar más piezas, más rápido y más relevantes.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1000125" y="4876800"/>
            <a:ext cx="4857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571500" y="5670375"/>
            <a:ext cx="10511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Y los números lo confirman: en Estados Unidos, la inversión en video se está moviendo fuerte hacia lo digital. Para 2025, 58% del gasto en video fue en digital, dejando atrás a la TV lineal. El dinero ya está siguiendo al comportamiento de la gente. En México , se está moviendo en ua misma  dirección pero de manera más rápida</a:t>
            </a:r>
            <a:endParaRPr/>
          </a:p>
        </p:txBody>
      </p:sp>
      <p:sp>
        <p:nvSpPr>
          <p:cNvPr id="100" name="Google Shape;100;p13"/>
          <p:cNvSpPr txBox="1"/>
          <p:nvPr/>
        </p:nvSpPr>
        <p:spPr>
          <a:xfrm>
            <a:off x="6334125" y="3448050"/>
            <a:ext cx="14287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Digital (2020)</a:t>
            </a:r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6334125" y="3829050"/>
            <a:ext cx="14287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TV Lineal (2020)</a:t>
            </a:r>
            <a:endParaRPr/>
          </a:p>
        </p:txBody>
      </p:sp>
      <p:sp>
        <p:nvSpPr>
          <p:cNvPr id="102" name="Google Shape;102;p13"/>
          <p:cNvSpPr txBox="1"/>
          <p:nvPr/>
        </p:nvSpPr>
        <p:spPr>
          <a:xfrm>
            <a:off x="6334125" y="4210050"/>
            <a:ext cx="1428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Digital (2025)</a:t>
            </a:r>
            <a:endParaRPr/>
          </a:p>
        </p:txBody>
      </p:sp>
      <p:sp>
        <p:nvSpPr>
          <p:cNvPr id="103" name="Google Shape;103;p13"/>
          <p:cNvSpPr txBox="1"/>
          <p:nvPr/>
        </p:nvSpPr>
        <p:spPr>
          <a:xfrm>
            <a:off x="6334125" y="4529137"/>
            <a:ext cx="1428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TV Lineal (2025)</a:t>
            </a:r>
            <a:endParaRPr/>
          </a:p>
        </p:txBody>
      </p:sp>
      <p:sp>
        <p:nvSpPr>
          <p:cNvPr id="104" name="Google Shape;104;p13"/>
          <p:cNvSpPr txBox="1"/>
          <p:nvPr/>
        </p:nvSpPr>
        <p:spPr>
          <a:xfrm>
            <a:off x="571500" y="571500"/>
            <a:ext cx="11601600" cy="14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3300">
                <a:solidFill>
                  <a:srgbClr val="333333"/>
                </a:solidFill>
                <a:highlight>
                  <a:srgbClr val="FFFFFF"/>
                </a:highlight>
                <a:latin typeface="Dela Gothic One"/>
                <a:ea typeface="Dela Gothic One"/>
                <a:cs typeface="Dela Gothic One"/>
                <a:sym typeface="Dela Gothic One"/>
              </a:rPr>
              <a:t>De un gran spot a cien piezas.</a:t>
            </a:r>
            <a:endParaRPr sz="3300">
              <a:solidFill>
                <a:srgbClr val="333333"/>
              </a:solidFill>
              <a:highlight>
                <a:srgbClr val="FFFFFF"/>
              </a:highlight>
              <a:latin typeface="Dela Gothic One"/>
              <a:ea typeface="Dela Gothic One"/>
              <a:cs typeface="Dela Gothic One"/>
              <a:sym typeface="Dela Gothic One"/>
            </a:endParaRPr>
          </a:p>
          <a:p>
            <a:pPr indent="0" lvl="0" marL="0" marR="0" rtl="0" algn="l">
              <a:spcBef>
                <a:spcPts val="2300"/>
              </a:spcBef>
              <a:spcAft>
                <a:spcPts val="0"/>
              </a:spcAft>
              <a:buNone/>
            </a:pPr>
            <a:r>
              <a:t/>
            </a:r>
            <a:endParaRPr sz="3450">
              <a:solidFill>
                <a:srgbClr val="FFFFFF"/>
              </a:solidFill>
              <a:latin typeface="Dela Gothic One"/>
              <a:ea typeface="Dela Gothic One"/>
              <a:cs typeface="Dela Gothic One"/>
              <a:sym typeface="Dela Gothic One"/>
            </a:endParaRPr>
          </a:p>
        </p:txBody>
      </p:sp>
      <p:pic>
        <p:nvPicPr>
          <p:cNvPr descr="image.png" id="105" name="Google Shape;105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19125" y="3609975"/>
            <a:ext cx="14823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19125" y="4267200"/>
            <a:ext cx="14823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19125" y="4924425"/>
            <a:ext cx="14823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19125" y="5581650"/>
            <a:ext cx="148232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mbellecer esta diapositiva" id="113" name="Google Shape;11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C1C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8" name="Google Shape;11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571500" y="3019425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Sostener una conversación continua con tu audiencia es un nuevo reto que exige coherencia y eficiencia.</a:t>
            </a:r>
            <a:endParaRPr/>
          </a:p>
        </p:txBody>
      </p:sp>
      <p:pic>
        <p:nvPicPr>
          <p:cNvPr descr="image.png" id="120" name="Google Shape;12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462212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1000125" y="3829050"/>
            <a:ext cx="48577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La velocidad del mercado exige </a:t>
            </a:r>
            <a:r>
              <a:rPr b="1" i="0" lang="en-US" sz="13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respuestas en tiempo real</a:t>
            </a:r>
            <a:r>
              <a:rPr b="0" i="0" lang="en-US" sz="13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1000125" y="4229100"/>
            <a:ext cx="48577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La producción repartida entre </a:t>
            </a:r>
            <a:r>
              <a:rPr b="1" i="0" lang="en-US" sz="13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muchos proveedores</a:t>
            </a:r>
            <a:r>
              <a:rPr b="0" i="0" lang="en-US" sz="13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genera caos.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1000125" y="4629150"/>
            <a:ext cx="48577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Se pierde la </a:t>
            </a:r>
            <a:r>
              <a:rPr b="1" i="0" lang="en-US" sz="13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consistencia narrativa y visual</a:t>
            </a:r>
            <a:r>
              <a:rPr b="0" i="0" lang="en-US" sz="13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entre plataformas.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1000125" y="5029200"/>
            <a:ext cx="48577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El retrabajo y la falta de procesos ágiles </a:t>
            </a:r>
            <a:r>
              <a:rPr b="1" i="0" lang="en-US" sz="13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elevan costos</a:t>
            </a:r>
            <a:r>
              <a:rPr b="0" i="0" lang="en-US" sz="13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y tiempos.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571500" y="571500"/>
            <a:ext cx="1160145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50" u="none" cap="none" strike="noStrike">
                <a:solidFill>
                  <a:srgbClr val="FFFFFF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Más contenido. Más rápido. Más relevante. ¿Cómo lograrlo sin perder el control?</a:t>
            </a:r>
            <a:endParaRPr/>
          </a:p>
        </p:txBody>
      </p:sp>
      <p:pic>
        <p:nvPicPr>
          <p:cNvPr descr="image.png" id="126" name="Google Shape;12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" y="3876675"/>
            <a:ext cx="14823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" y="4276725"/>
            <a:ext cx="14823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" y="4676775"/>
            <a:ext cx="14823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" y="5076825"/>
            <a:ext cx="148232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mbellecer esta diapositiva" id="134" name="Google Shape;13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C1C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9" name="Google Shape;13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812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6334125" y="3290887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Operamos como una extensión de tu equipo, con un flujo constante de piezas que alimentan tu ecosistema digital.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6762750" y="3995737"/>
            <a:ext cx="48577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Equipo Creativo + Técnico integrado</a:t>
            </a:r>
            <a:r>
              <a:rPr b="0" i="0" lang="en-US" sz="13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bajo un mismo techo.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6762750" y="4395787"/>
            <a:ext cx="48577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Contenido 100% nativo</a:t>
            </a:r>
            <a:r>
              <a:rPr b="0" i="0" lang="en-US" sz="13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para TikTok, IG, YouTube, CTV y más.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6762750" y="4795837"/>
            <a:ext cx="48577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Narrativa alineada y coherente</a:t>
            </a:r>
            <a:r>
              <a:rPr b="0" i="0" lang="en-US" sz="13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en cada pieza.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6762750" y="5195887"/>
            <a:ext cx="48577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Capacidad de producir </a:t>
            </a:r>
            <a:r>
              <a:rPr b="1" i="0" lang="en-US" sz="13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alto volumen</a:t>
            </a:r>
            <a:r>
              <a:rPr b="0" i="0" lang="en-US" sz="13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(ej. 10 piezas diarias) optimizadas.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571500" y="466725"/>
            <a:ext cx="1160145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50" u="none" cap="none" strike="noStrike">
                <a:solidFill>
                  <a:srgbClr val="FFFFFF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Nuestra Propuesta: Tu fábrica de contenido, lista para hoy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571500" y="2057400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Producción continua, culturalmente relevante y diseñada para plataformas.</a:t>
            </a:r>
            <a:endParaRPr/>
          </a:p>
        </p:txBody>
      </p:sp>
      <p:pic>
        <p:nvPicPr>
          <p:cNvPr descr="image.png" id="148" name="Google Shape;14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4043362"/>
            <a:ext cx="14823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4443412"/>
            <a:ext cx="14823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4843462"/>
            <a:ext cx="14823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5243512"/>
            <a:ext cx="148232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mbellecer esta diapositiva" id="156" name="Google Shape;15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C1C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027164"/>
            <a:ext cx="3555950" cy="29182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3027164"/>
            <a:ext cx="3555950" cy="29182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3027164"/>
            <a:ext cx="3555950" cy="2918221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9"/>
          <p:cNvSpPr txBox="1"/>
          <p:nvPr/>
        </p:nvSpPr>
        <p:spPr>
          <a:xfrm>
            <a:off x="819150" y="3274814"/>
            <a:ext cx="3213682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DCDE7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🔥 Hero – Que se vea como un estreno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819150" y="4236839"/>
            <a:ext cx="3060650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Cinematografía de alto nivel, sí… pero con alma. Lanzamos universos narrativos, no solo campañas. Diseñamos piezas reusables para amplificar el Hero en semanas.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4565600" y="3274814"/>
            <a:ext cx="3213682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DCDE7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🎬 Hub – Tu contenido con sabor de plataforma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4565600" y="4570214"/>
            <a:ext cx="3060650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Series de marca con ritmo nativo (TikTok, Reels). Integramos influencers y comunidad. Estéticas ágiles, directas y reconocibles (BTS, lo-fi, tendencias).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8312050" y="3274814"/>
            <a:ext cx="3213682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DCDE7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💡 Hygiene – Lo útil también puede ser cool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8312050" y="4570214"/>
            <a:ext cx="3060650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“Cómo usar” y “FAQs” con storytelling y motion graphics. Producción express basada en tendencias de búsqueda. Contenido evergreen pero adaptable.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571500" y="571500"/>
            <a:ext cx="1160145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50" u="none" cap="none" strike="noStrike">
                <a:solidFill>
                  <a:srgbClr val="FFFFFF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Tú ya trabajas con Hero, Hub y Hygiene. Nosotros lo llevamos más lejos.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571500" y="2162175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El modelo está claro. Nosotros lo empujamos creativamente para que cada pieza sea relevante y con personalidad.</a:t>
            </a:r>
            <a:endParaRPr/>
          </a:p>
        </p:txBody>
      </p:sp>
      <p:pic>
        <p:nvPicPr>
          <p:cNvPr descr="image.png" id="173" name="Google Shape;173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773816" y="6238875"/>
            <a:ext cx="846683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C1C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8" name="Google Shape;17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020466"/>
            <a:ext cx="3555950" cy="29316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3020466"/>
            <a:ext cx="3555950" cy="29316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3020466"/>
            <a:ext cx="3555950" cy="2931616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 txBox="1"/>
          <p:nvPr/>
        </p:nvSpPr>
        <p:spPr>
          <a:xfrm>
            <a:off x="819150" y="3858666"/>
            <a:ext cx="3213682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DCDE7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🎥 Producción Concentrada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819150" y="4820691"/>
            <a:ext cx="30606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En solo 2 días de filmación al mes podemos generar hasta 20 piezas de contenido listas para múltiples plataformas.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4565600" y="3858666"/>
            <a:ext cx="305038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DCDE7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⚙️ Rodajes Eficientes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4565600" y="4487316"/>
            <a:ext cx="30606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Grabaciones compactas, con equipo ágil y setups diseñados para extraer el máximo de cada hora de producción.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8312050" y="3858666"/>
            <a:ext cx="3213682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DCDE7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📊 Optimización Basada en Datos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8312050" y="4820691"/>
            <a:ext cx="30606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Medimos performance, iteramos lo que funciona y ajustamos lo que no. Mejoramos cada mes sin partir desde cero.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571500" y="571500"/>
            <a:ext cx="1160145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50" u="none" cap="none" strike="noStrike">
                <a:solidFill>
                  <a:srgbClr val="FFFFFF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Agilidad real: producción compacta, resultados constantes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571500" y="2162175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No necesitas grabar todos los días. Con </a:t>
            </a:r>
            <a:r>
              <a:rPr b="1" i="0" lang="en-US" sz="1500" u="none" cap="none" strike="noStrike">
                <a:solidFill>
                  <a:srgbClr val="FDCDE7"/>
                </a:solidFill>
                <a:latin typeface="Lato"/>
                <a:ea typeface="Lato"/>
                <a:cs typeface="Lato"/>
                <a:sym typeface="Lato"/>
              </a:rPr>
              <a:t>dos jornadas bien diseñadas al mes</a:t>
            </a:r>
            <a:r>
              <a:rPr b="0" i="0" lang="en-US" sz="15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, generamos el contenido que tu calendario necesita.</a:t>
            </a:r>
            <a:endParaRPr/>
          </a:p>
        </p:txBody>
      </p:sp>
      <p:pic>
        <p:nvPicPr>
          <p:cNvPr descr="image.png" id="190" name="Google Shape;190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773816" y="6238875"/>
            <a:ext cx="846683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C1C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5" name="Google Shape;19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29966"/>
            <a:ext cx="3555950" cy="25982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2829966"/>
            <a:ext cx="3555950" cy="25982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829966"/>
            <a:ext cx="3555950" cy="25982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2686050"/>
            <a:ext cx="1104900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1"/>
          <p:cNvSpPr txBox="1"/>
          <p:nvPr/>
        </p:nvSpPr>
        <p:spPr>
          <a:xfrm>
            <a:off x="819150" y="3668166"/>
            <a:ext cx="244030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DCDE7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🧠 Preproducción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819150" y="4296816"/>
            <a:ext cx="30606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Apoyo en ideas, guiones y conceptos. Storyboards generados en minutos. Mapeo de contenido por objetivo y formato.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4565600" y="3668166"/>
            <a:ext cx="196024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DCDE7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🎬 Producción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4565600" y="4296816"/>
            <a:ext cx="30606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Scheduling automatizado para optimizar recursos. Estimación y control de presupuesto más inteligentes.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8312050" y="3668166"/>
            <a:ext cx="262032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DCDE7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🎞️ Postproducción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8312050" y="4296816"/>
            <a:ext cx="30606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Aceleramos corrección de color, limpieza de audio y export. Ahorro de horas de talacha técnica para enfocar en la dirección creativa.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571500" y="571500"/>
            <a:ext cx="1160145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50" u="none" cap="none" strike="noStrike">
                <a:solidFill>
                  <a:srgbClr val="FFFFFF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Tecnología como aliada: escalar ideas, no solo contenido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571500" y="2162175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Usamos IA para potenciar el talento en cada fase: más estrategia, mejor ejecución.</a:t>
            </a:r>
            <a:endParaRPr/>
          </a:p>
        </p:txBody>
      </p:sp>
      <p:pic>
        <p:nvPicPr>
          <p:cNvPr descr="image.png" id="208" name="Google Shape;208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773816" y="6238875"/>
            <a:ext cx="846683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C1C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19375"/>
            <a:ext cx="5381625" cy="3733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2619375"/>
            <a:ext cx="5381625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2"/>
          <p:cNvSpPr txBox="1"/>
          <p:nvPr/>
        </p:nvSpPr>
        <p:spPr>
          <a:xfrm>
            <a:off x="904875" y="2914650"/>
            <a:ext cx="4990623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DCDE7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Elektra – Contenido digital Always-On</a:t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904875" y="3771900"/>
            <a:ext cx="47529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Objetivo:</a:t>
            </a:r>
            <a:r>
              <a:rPr b="0" i="0" lang="en-US" sz="12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Mantener una presencia continua en redes con contenido contextual, educativo y promocional.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904875" y="4381500"/>
            <a:ext cx="47529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Lo que hicimos:</a:t>
            </a:r>
            <a:endParaRPr/>
          </a:p>
        </p:txBody>
      </p:sp>
      <p:sp>
        <p:nvSpPr>
          <p:cNvPr id="219" name="Google Shape;219;p22"/>
          <p:cNvSpPr txBox="1"/>
          <p:nvPr/>
        </p:nvSpPr>
        <p:spPr>
          <a:xfrm>
            <a:off x="904875" y="5505450"/>
            <a:ext cx="47529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Resultado:</a:t>
            </a:r>
            <a:r>
              <a:rPr b="0" i="0" lang="en-US" sz="12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+200 contenidos entregados en 2024, manteniendo consistencia y ritmo.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6572250" y="2914650"/>
            <a:ext cx="4990623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DCDE7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Amazon Prime Video – Campañas express</a:t>
            </a:r>
            <a:endParaRPr/>
          </a:p>
        </p:txBody>
      </p:sp>
      <p:sp>
        <p:nvSpPr>
          <p:cNvPr id="221" name="Google Shape;221;p22"/>
          <p:cNvSpPr txBox="1"/>
          <p:nvPr/>
        </p:nvSpPr>
        <p:spPr>
          <a:xfrm>
            <a:off x="6572250" y="3771900"/>
            <a:ext cx="47529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Objetivo:</a:t>
            </a:r>
            <a:r>
              <a:rPr b="0" i="0" lang="en-US" sz="12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Apoyar campañas clave (Prime Day, estrenos) con alto volumen de assets.</a:t>
            </a:r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6572250" y="4381500"/>
            <a:ext cx="47529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Lo que hicimos: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6572250" y="5505450"/>
            <a:ext cx="47529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Resultado:</a:t>
            </a:r>
            <a:r>
              <a:rPr b="0" i="0" lang="en-US" sz="12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Contenidos listos en tiempo récord, integrados con la estrategia de LatAm.</a:t>
            </a:r>
            <a:endParaRPr/>
          </a:p>
        </p:txBody>
      </p:sp>
      <p:sp>
        <p:nvSpPr>
          <p:cNvPr id="224" name="Google Shape;224;p22"/>
          <p:cNvSpPr txBox="1"/>
          <p:nvPr/>
        </p:nvSpPr>
        <p:spPr>
          <a:xfrm>
            <a:off x="1333500" y="4752975"/>
            <a:ext cx="43243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Producción mensual de 20 piezas originales.</a:t>
            </a: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1333500" y="5124450"/>
            <a:ext cx="43243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Adaptación para Facebook, IG, TikTok y YouTube.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7000875" y="4752975"/>
            <a:ext cx="43243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Producción intensiva (hasta 70 piezas en 2 días).</a:t>
            </a:r>
            <a:endParaRPr/>
          </a:p>
        </p:txBody>
      </p:sp>
      <p:sp>
        <p:nvSpPr>
          <p:cNvPr id="227" name="Google Shape;227;p22"/>
          <p:cNvSpPr txBox="1"/>
          <p:nvPr/>
        </p:nvSpPr>
        <p:spPr>
          <a:xfrm>
            <a:off x="7000875" y="5124450"/>
            <a:ext cx="43243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Desarrollo de posters, clips, bumpers, reels, memes.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571500" y="504825"/>
            <a:ext cx="1160145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50" u="none" cap="none" strike="noStrike">
                <a:solidFill>
                  <a:srgbClr val="FFFFFF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Ya lo hacemos con grandes marcas. Lo podemos hacer contigo.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571500" y="2095500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Producción ágil, resultados reales. Así operamos sistemas de contenido "Always-On".</a:t>
            </a:r>
            <a:endParaRPr/>
          </a:p>
        </p:txBody>
      </p:sp>
      <p:pic>
        <p:nvPicPr>
          <p:cNvPr descr="image.png" id="230" name="Google Shape;23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4875" y="4800600"/>
            <a:ext cx="14823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4875" y="5172075"/>
            <a:ext cx="14823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72250" y="4800600"/>
            <a:ext cx="14823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72250" y="5172075"/>
            <a:ext cx="148232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C1C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8" name="Google Shape;23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020466"/>
            <a:ext cx="3555950" cy="29316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3020466"/>
            <a:ext cx="3555950" cy="29316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3020466"/>
            <a:ext cx="3555950" cy="2931616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3"/>
          <p:cNvSpPr txBox="1"/>
          <p:nvPr/>
        </p:nvSpPr>
        <p:spPr>
          <a:xfrm>
            <a:off x="819150" y="3858666"/>
            <a:ext cx="3213682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DCDE7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📆 Iguala de Producción Mensual</a:t>
            </a:r>
            <a:endParaRPr/>
          </a:p>
        </p:txBody>
      </p:sp>
      <p:sp>
        <p:nvSpPr>
          <p:cNvPr id="243" name="Google Shape;243;p23"/>
          <p:cNvSpPr txBox="1"/>
          <p:nvPr/>
        </p:nvSpPr>
        <p:spPr>
          <a:xfrm>
            <a:off x="819150" y="4820691"/>
            <a:ext cx="30606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Producción continua con entregables claros. Costos predecibles y procesos eficientes. Planeamos juntos el contenido del mes.</a:t>
            </a:r>
            <a:endParaRPr/>
          </a:p>
        </p:txBody>
      </p:sp>
      <p:sp>
        <p:nvSpPr>
          <p:cNvPr id="244" name="Google Shape;244;p23"/>
          <p:cNvSpPr txBox="1"/>
          <p:nvPr/>
        </p:nvSpPr>
        <p:spPr>
          <a:xfrm>
            <a:off x="4565600" y="3858666"/>
            <a:ext cx="3213682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DCDE7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🏭 Content Studio Externo</a:t>
            </a:r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4565600" y="4820691"/>
            <a:ext cx="30606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Un modelo flexible. Nos integramos a tu operación. Si ya tienes agencia, trabajamos con sus guiones. Modularizamos la producción.</a:t>
            </a:r>
            <a:endParaRPr/>
          </a:p>
        </p:txBody>
      </p:sp>
      <p:sp>
        <p:nvSpPr>
          <p:cNvPr id="246" name="Google Shape;246;p23"/>
          <p:cNvSpPr txBox="1"/>
          <p:nvPr/>
        </p:nvSpPr>
        <p:spPr>
          <a:xfrm>
            <a:off x="8312050" y="3858666"/>
            <a:ext cx="3213682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DCDE7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🚀 Campaña Puntual (Tradicional)</a:t>
            </a:r>
            <a:endParaRPr/>
          </a:p>
        </p:txBody>
      </p:sp>
      <p:sp>
        <p:nvSpPr>
          <p:cNvPr id="247" name="Google Shape;247;p23"/>
          <p:cNvSpPr txBox="1"/>
          <p:nvPr/>
        </p:nvSpPr>
        <p:spPr>
          <a:xfrm>
            <a:off x="8312050" y="4820691"/>
            <a:ext cx="30606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Producción rápida y enfocada para un momento clave: lanzamiento, temporada o activación. Producción completa pero ágil.</a:t>
            </a:r>
            <a:endParaRPr/>
          </a:p>
        </p:txBody>
      </p:sp>
      <p:sp>
        <p:nvSpPr>
          <p:cNvPr id="248" name="Google Shape;248;p23"/>
          <p:cNvSpPr txBox="1"/>
          <p:nvPr/>
        </p:nvSpPr>
        <p:spPr>
          <a:xfrm>
            <a:off x="571500" y="571500"/>
            <a:ext cx="1160145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50" u="none" cap="none" strike="noStrike">
                <a:solidFill>
                  <a:srgbClr val="FFFFFF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¿Cómo trabajamos contigo? Tres modelos de colaboración</a:t>
            </a:r>
            <a:endParaRPr/>
          </a:p>
        </p:txBody>
      </p:sp>
      <p:sp>
        <p:nvSpPr>
          <p:cNvPr id="249" name="Google Shape;249;p23"/>
          <p:cNvSpPr txBox="1"/>
          <p:nvPr/>
        </p:nvSpPr>
        <p:spPr>
          <a:xfrm>
            <a:off x="571500" y="2162175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Nos adaptamos a tus objetivos, tu estructura actual y tus ritmos. Podemos operar todo o solo una parte.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C1C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4"/>
          <p:cNvSpPr txBox="1"/>
          <p:nvPr/>
        </p:nvSpPr>
        <p:spPr>
          <a:xfrm>
            <a:off x="295275" y="1314450"/>
            <a:ext cx="1160145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50" u="none" cap="none" strike="noStrike">
                <a:solidFill>
                  <a:srgbClr val="FFFFFF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Listos para planear tu contenido de 2026 (y más allá)</a:t>
            </a:r>
            <a:endParaRPr/>
          </a:p>
        </p:txBody>
      </p:sp>
      <p:pic>
        <p:nvPicPr>
          <p:cNvPr descr="image.png" id="255" name="Google Shape;25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96222" y="4552950"/>
            <a:ext cx="1199405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4"/>
          <p:cNvSpPr txBox="1"/>
          <p:nvPr/>
        </p:nvSpPr>
        <p:spPr>
          <a:xfrm>
            <a:off x="3667125" y="2971800"/>
            <a:ext cx="52863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Agendemos un </a:t>
            </a:r>
            <a:r>
              <a:rPr b="1" i="0" lang="en-US" sz="13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Sprint de diagnóstico</a:t>
            </a:r>
            <a:r>
              <a:rPr b="0" i="0" lang="en-US" sz="13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gratuito.</a:t>
            </a:r>
            <a:endParaRPr/>
          </a:p>
        </p:txBody>
      </p:sp>
      <p:sp>
        <p:nvSpPr>
          <p:cNvPr id="257" name="Google Shape;257;p24"/>
          <p:cNvSpPr txBox="1"/>
          <p:nvPr/>
        </p:nvSpPr>
        <p:spPr>
          <a:xfrm>
            <a:off x="3667125" y="3371850"/>
            <a:ext cx="52863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Revisamos tu calendario de marketing.</a:t>
            </a:r>
            <a:endParaRPr/>
          </a:p>
        </p:txBody>
      </p:sp>
      <p:sp>
        <p:nvSpPr>
          <p:cNvPr id="258" name="Google Shape;258;p24"/>
          <p:cNvSpPr txBox="1"/>
          <p:nvPr/>
        </p:nvSpPr>
        <p:spPr>
          <a:xfrm>
            <a:off x="3667125" y="3771900"/>
            <a:ext cx="52863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Diseñamos tu sistema de producción ágil y modular.</a:t>
            </a:r>
            <a:endParaRPr/>
          </a:p>
        </p:txBody>
      </p:sp>
      <p:pic>
        <p:nvPicPr>
          <p:cNvPr descr="image.png" id="259" name="Google Shape;25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86125" y="3019425"/>
            <a:ext cx="14823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86125" y="3419475"/>
            <a:ext cx="14823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86125" y="3819525"/>
            <a:ext cx="148232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
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34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39.png"/><Relationship Id="rId7" Type="http://schemas.openxmlformats.org/officeDocument/2006/relationships/image" Target="../media/image52.png"/><Relationship Id="rId8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9" Type="http://schemas.openxmlformats.org/officeDocument/2006/relationships/image" Target="../media/image36.png"/><Relationship Id="rId5" Type="http://schemas.openxmlformats.org/officeDocument/2006/relationships/image" Target="../media/image41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25.png"/><Relationship Id="rId11" Type="http://schemas.openxmlformats.org/officeDocument/2006/relationships/image" Target="../media/image45.png"/><Relationship Id="rId10" Type="http://schemas.openxmlformats.org/officeDocument/2006/relationships/image" Target="../media/image38.png"/><Relationship Id="rId9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50.png"/><Relationship Id="rId7" Type="http://schemas.openxmlformats.org/officeDocument/2006/relationships/image" Target="../media/image37.png"/><Relationship Id="rId8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25.png"/><Relationship Id="rId11" Type="http://schemas.openxmlformats.org/officeDocument/2006/relationships/image" Target="../media/image54.png"/><Relationship Id="rId10" Type="http://schemas.openxmlformats.org/officeDocument/2006/relationships/image" Target="../media/image47.png"/><Relationship Id="rId9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53.png"/><Relationship Id="rId7" Type="http://schemas.openxmlformats.org/officeDocument/2006/relationships/image" Target="../media/image55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20303" y="2352675"/>
            <a:ext cx="111513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Nueva Era del Contenido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90925" y="3686175"/>
            <a:ext cx="50101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Cómo las marcas están transformando su comunicación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cómo Selva las acompaña en esa evolución.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950" y="1524000"/>
            <a:ext cx="99441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590800" y="4929187"/>
            <a:ext cx="701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58 % del gasto publicitario mundial ya es digital. El video supera por primera vez a la TV lineal.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El cambio global del mercado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6334125"/>
            <a:ext cx="2695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Fuente: IAB Global Digital Video Report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466975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 México, el </a:t>
            </a:r>
            <a:r>
              <a:rPr b="1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57 %</a:t>
            </a: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del gasto publicitario es digital.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061245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Las marcas priorizan </a:t>
            </a:r>
            <a:r>
              <a:rPr b="1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contenido constante</a:t>
            </a: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sobre campañas únicas.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México sigue la tendencia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6334125"/>
            <a:ext cx="1495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Fuente: IAB México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2286000" y="34290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modelo de “una gran campaña” se transformó. Las marcas ahora producen microcontenidos constantes con enfoque estratégico.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71500" y="455295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88632" y="4810125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2015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5295900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 gran campaña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355782" y="3467100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2020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438650" y="3952875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Always-On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222932" y="4810125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305800" y="5295900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Ecosistema multiformato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133600" y="44767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000750" y="44767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867900" y="44767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 la campaña al flujo continuo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2466975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usuario promedio pasa </a:t>
            </a:r>
            <a:r>
              <a:rPr b="1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+5 horas al día</a:t>
            </a: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en plataformas digitales.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426916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70 %</a:t>
            </a:r>
            <a:r>
              <a:rPr b="0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de los consumidores esperan interacción continua con las marcas.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El consumidor 2025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6334125"/>
            <a:ext cx="198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Fuente: DataReportal / GWI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987"/>
            <a:ext cx="5286375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6987"/>
            <a:ext cx="528637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962025" y="29575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Antes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724650" y="29575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Ahora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247775" y="3557587"/>
            <a:ext cx="421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Mensajes masivos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247775" y="4005262"/>
            <a:ext cx="421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Awareness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247775" y="4452937"/>
            <a:ext cx="421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Lanzamientos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010400" y="3557587"/>
            <a:ext cx="421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Microemociones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010400" y="4005262"/>
            <a:ext cx="421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Conversación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010400" y="4452937"/>
            <a:ext cx="421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Presencia constante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6052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05288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50056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4650" y="36052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405288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4650" y="450056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Lo que significa para las marcas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244792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Selva acompaña a las marcas en su estrategia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Always-On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de un solo rodaje, múltiples piezas para distintas audiencias y plataformas.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3739157"/>
            <a:ext cx="555069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 Rodaje → +100 Entregables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Cómo respondemos juntos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6334125" y="3297733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sistema vivo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contenido que evoluciona mes a mes.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6334125" y="384244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Planificación, filmación, post y distribución como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flujo continuo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5912" y="2276475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Producción modular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950" y="1524000"/>
            <a:ext cx="99441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1676400" y="4619625"/>
            <a:ext cx="8839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Marcas con estrategia Always-On crecen 3.5x más rápido. Los costos por pieza bajan hasta 60 % con producción modular.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Datos clave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6334125"/>
            <a:ext cx="3733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Fuente: Think with Google 2024 / Selva Studio Benchmark 2024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571500" y="244792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Campañas serializadas con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estética cinematográfica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2992635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+4M views orgánicas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promedio / engagement sostenido durante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9 meses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95" name="Google Shape;19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Caso: Amazon Prime Video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571500" y="244792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Narrativa modular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de un rodaje, 30 piezas mensuales.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299263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Incremento en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awareness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tiempo de visualización.</a:t>
            </a:r>
            <a:endParaRPr/>
          </a:p>
        </p:txBody>
      </p:sp>
      <p:pic>
        <p:nvPicPr>
          <p:cNvPr descr="image.png" id="205" name="Google Shape;2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Caso: Elektra Always-On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64318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64318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571500" y="4976812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Imágenes del Set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4381500" y="4976812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Frame Generado por IA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8191500" y="4976812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AAAAAA"/>
                </a:solidFill>
                <a:latin typeface="Lato"/>
                <a:ea typeface="Lato"/>
                <a:cs typeface="Lato"/>
                <a:sym typeface="Lato"/>
              </a:rPr>
              <a:t>Frame Generado por IA</a:t>
            </a:r>
            <a:endParaRPr/>
          </a:p>
        </p:txBody>
      </p:sp>
      <p:pic>
        <p:nvPicPr>
          <p:cNvPr descr="image.png" id="218" name="Google Shape;2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4318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500" y="264318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0" y="264318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Caso: Totalplay 10 GB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571500" y="133350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Campaña IA + Live Action. Aceleración del flujo de producción y mayor diferenciación visual.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4625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714625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714625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1430893" y="3724275"/>
            <a:ext cx="17102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+200 piezas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1633537" y="441960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Producidas en 2024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5765958" y="3724275"/>
            <a:ext cx="6600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98 %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5300662" y="4419600"/>
            <a:ext cx="159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 materiales reciclados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570958" y="3724275"/>
            <a:ext cx="6700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80 %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9144000" y="4419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 proveedores locales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3028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0289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4550" y="302895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Datos internos de Selva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571500" y="244792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IA, producción modular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creatividad cultural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571500" y="299263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El futuro es híbrido: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cine + datos + velocidad</a:t>
            </a:r>
            <a:r>
              <a:rPr b="0" i="0" lang="en-US" sz="16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249" name="Google Shape;24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Lo que viene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295275" y="1866900"/>
            <a:ext cx="116014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calidad cinematográfica sigue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siendo la base.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571500" y="37528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 diferencia es que ahora vive 24/7.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571500" y="45339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Selva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68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99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14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386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681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/>
          <p:nvPr/>
        </p:nvSpPr>
        <p:spPr>
          <a:xfrm>
            <a:off x="571500" y="21859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571500" y="2957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571500" y="3729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571500" y="4500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66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/>
        </p:nvSpPr>
        <p:spPr>
          <a:xfrm>
            <a:off x="1666875" y="15740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https://img.freepik.com/premium-vector/mexico-detailed-country-infographic-template-with-population-demographics_594757-536.jpg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1666875" y="18073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79" name="Google Shape;27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338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/>
        </p:nvSpPr>
        <p:spPr>
          <a:xfrm>
            <a:off x="1666875" y="23455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https://www.apa.org/images/health-advisory-adolescent-social-media-use-hero_tcm7-316469.jpg</a:t>
            </a:r>
            <a:endParaRPr/>
          </a:p>
        </p:txBody>
      </p:sp>
      <p:sp>
        <p:nvSpPr>
          <p:cNvPr id="281" name="Google Shape;281;p28"/>
          <p:cNvSpPr txBox="1"/>
          <p:nvPr/>
        </p:nvSpPr>
        <p:spPr>
          <a:xfrm>
            <a:off x="1666875" y="25788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www.apa.org</a:t>
            </a:r>
            <a:endParaRPr/>
          </a:p>
        </p:txBody>
      </p:sp>
      <p:pic>
        <p:nvPicPr>
          <p:cNvPr descr="image.png" id="282" name="Google Shape;28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109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1666875" y="31170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https://asset.velvetjobs.com/resume-sample-examples/images/planning-analyst-v15.png</a:t>
            </a:r>
            <a:endParaRPr/>
          </a:p>
        </p:txBody>
      </p:sp>
      <p:sp>
        <p:nvSpPr>
          <p:cNvPr id="284" name="Google Shape;284;p28"/>
          <p:cNvSpPr txBox="1"/>
          <p:nvPr/>
        </p:nvSpPr>
        <p:spPr>
          <a:xfrm>
            <a:off x="1666875" y="33504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www.velvetjobs.com</a:t>
            </a:r>
            <a:endParaRPr/>
          </a:p>
        </p:txBody>
      </p:sp>
      <p:pic>
        <p:nvPicPr>
          <p:cNvPr descr="image.png" id="285" name="Google Shape;285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81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1666875" y="38885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https://www.6sigma.us/wp-content/uploads/2025/04/plan-do-study-act-cycle.webp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666875" y="41219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www.6sigma.us</a:t>
            </a:r>
            <a:endParaRPr/>
          </a:p>
        </p:txBody>
      </p:sp>
      <p:pic>
        <p:nvPicPr>
          <p:cNvPr descr="image.png" id="288" name="Google Shape;28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738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1666875" y="46529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assets.aboutamazon.com/dims4/default/6c50009/2147483647/strip/true/crop/1919x1080+1+0/resize/1240x698!/quality/90/?url=https%3A%2F%2Famazon-blogs-brightspot.s3.amazonaws.com%2Ff8%2F96%2F2c8f70544f16a33a6bde1dcbe728%2Fsubs-pre-order-consent-background-image-cb578173463.jpg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1666875" y="50720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www.aboutamazon.ca</a:t>
            </a:r>
            <a:endParaRPr/>
          </a:p>
        </p:txBody>
      </p:sp>
      <p:pic>
        <p:nvPicPr>
          <p:cNvPr descr="image.png" id="291" name="Google Shape;291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5681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1666875" y="55959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https://www.brides.com/thmb/BKfU7eVFDoMe2bLfKhNHvD2L39M=/1500x0/filters:no_upscale():max_bytes(150000):strip_icc()/wedding-dessert-table-ideas-paulina-weddings-primary-0624-dddde2132f6b4c6d8e689a8b30ff4f7e.jpg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1666875" y="60150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www.brides.com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571500" y="4714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25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528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243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958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67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571500" y="3300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71500" y="4071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571500" y="48434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500" y="56149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52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1666875" y="15668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https://media.istockphoto.com/id/1265157445/photo/in-the-big-film-studio-professional-crew-shooting-blockbuster-movie-director-commands.jpg?s=612x612&amp;w=0&amp;k=20&amp;c=g7Z4Ij2GXib2OJibROtHeXzSMhkGlKnmynkzLnY-RQI=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1666875" y="19859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314" name="Google Shape;31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955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1666875" y="25098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https://photos.peopleimages.com/picture/202303/2811280-man-face-profile-and-ai-with-future-technology-and-science-with-cloud-computing-and-global-network.-abstract-futuristic-and-digital-transformation-virtual-and-tech-development-on-blue-background-fit_400_400.jpg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1666875" y="29289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peopleimages.com</a:t>
            </a:r>
            <a:endParaRPr/>
          </a:p>
        </p:txBody>
      </p:sp>
      <p:pic>
        <p:nvPicPr>
          <p:cNvPr descr="image.png" id="317" name="Google Shape;317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4528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1666875" y="34599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https://ddg-assets.b-cdn.net/blog/abstract-art-and-ai/1.jpg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1666875" y="36933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deepdreamgenerator.com</a:t>
            </a:r>
            <a:endParaRPr/>
          </a:p>
        </p:txBody>
      </p:sp>
      <p:pic>
        <p:nvPicPr>
          <p:cNvPr descr="image.png" id="320" name="Google Shape;320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2243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 txBox="1"/>
          <p:nvPr/>
        </p:nvSpPr>
        <p:spPr>
          <a:xfrm>
            <a:off x="1666875" y="42314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https://images.stockcake.com/public/5/1/6/516f363d-19a4-4f90-bb0d-4d78ace329d9_large/futuristic-technology-vision-stockcake.jpg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1666875" y="44648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descr="image.png" id="323" name="Google Shape;323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995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1666875" y="50030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https://beverlyboy.com/wp-content/uploads/2025/05/Watch_2.png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1666875" y="52363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beverlyboy.com</a:t>
            </a:r>
            <a:endParaRPr/>
          </a:p>
        </p:txBody>
      </p:sp>
      <p:pic>
        <p:nvPicPr>
          <p:cNvPr descr="image.png" id="326" name="Google Shape;326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5767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1666875" y="57745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https://i.etsystatic.com/40515588/r/il/57f638/5291753922/il_570xN.5291753922_gjlc.jpg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1666875" y="60078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www.etsy.com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571500" y="4714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